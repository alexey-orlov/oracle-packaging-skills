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4"/>
  </p:sldMasterIdLst>
  <p:notesMasterIdLst>
    <p:notesMasterId r:id="rId28"/>
  </p:notesMasterIdLst>
  <p:handoutMasterIdLst>
    <p:handoutMasterId r:id="rId29"/>
  </p:handoutMasterIdLst>
  <p:sldIdLst>
    <p:sldId id="2147483638" r:id="rId10"/>
  </p:sldIdLst>
  <p:sldSz cx="12192000" cy="6858000"/>
  <p:notesSz cx="13716000" cy="243871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7E6404-F187-8246-A766-E0E29954D569}" name="Iryna Markiv" initials="" userId="S::imarki@softserveinc.com::51b74fcb-94de-4ae6-a833-f560b14dbba8" providerId="AD"/>
  <p188:author id="{5A1AA315-E1D3-F2C9-1337-4740BB9B7B6C}" name="Nataliia Kolobkova" initials="" userId="S::nkolob@softserveinc.com::792c482e-2a45-494f-bd9a-f084b16b9457" providerId="AD"/>
  <p188:author id="{A587C119-866E-FC84-10C9-07DBC241A71F}" name="Pawel Domal" initials="PD" userId="S::padomal@softserveinc.com::0dcc0bba-ce81-4726-adfc-5167fa8cd2c5" providerId="AD"/>
  <p188:author id="{74989E37-B850-1D40-C287-E7457D095939}" name="Taras Lopushanskyi" initials="" userId="S::tlopu@softserveinc.com::7b479547-1ac6-4c3e-bfc7-6a03fe16e469" providerId="AD"/>
  <p188:author id="{21482640-A5A7-D737-7BF2-D35DE245910F}" name="Bohdan Khomych" initials="BK" userId="S::bkhomy@softserveinc.com::a74afff9-9061-49b9-9ccd-c94257aae52d" providerId="AD"/>
  <p188:author id="{DC511251-FA26-9433-1173-3030CF824937}" name="Neill Furmston" initials="" userId="S::nfurm@softserveinc.com::1f7bb88b-ebba-4afe-b2d3-53cd9fd2713d" providerId="AD"/>
  <p188:author id="{F3764051-4701-B8D2-F2FF-086436182B31}" name="Helga Kuklieva" initials="HK" userId="S::okukl@softserveinc.com::8058d566-3e94-4190-bb8d-b787b7329c88" providerId="AD"/>
  <p188:author id="{C2E33E54-C8C2-0C5D-040E-12AE751738F1}" name="Volodymyr Horbovyi" initials="VH" userId="S::vhorbo@softserveinc.com::c81b15e6-e052-4beb-9940-6f5a346dc6fb" providerId="AD"/>
  <p188:author id="{FC195F60-30CD-1CEB-73C0-F626030225A3}" name="Vika Shemet" initials="" userId="S::vsheme@softserveinc.com::db0cc8c0-0552-412f-b1bb-b7d23224c7a0" providerId="AD"/>
  <p188:author id="{2894DD6E-0494-9116-161E-584914936762}" name="Viktoriya Klymenko" initials="VK" userId="S::vklym@softserveinc.com::5ae53fcc-30d6-497b-a87f-600e3b37d87f" providerId="AD"/>
  <p188:author id="{4394AC8E-DC3E-F677-9D4D-E54A7EE923E3}" name="Karsten Tramborg" initials="" userId="S::ktram@softserveinc.com::1262f8f5-da82-4171-8a2c-b12ccabce2e4" providerId="AD"/>
  <p188:author id="{A1D112A3-AFCA-883A-F2AF-90D764BC06CD}" name="Volodymyr S. Chornyy" initials="VSC" userId="S::vchornyy@softserveinc.com::bce045a6-b280-45d7-8bfb-708a3f37d1d9" providerId="AD"/>
  <p188:author id="{7ED644DC-D3AC-75B6-36A0-CC58848AD126}" name="Iryna Sukhotska" initials="" userId="S::isukh@softserveinc.com::57b3c95b-473f-45db-abc5-73044ff921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66FFCC"/>
    <a:srgbClr val="66B1DA"/>
    <a:srgbClr val="6197DF"/>
    <a:srgbClr val="C34230"/>
    <a:srgbClr val="F2F4F7"/>
    <a:srgbClr val="90F0BB"/>
    <a:srgbClr val="FCA8A8"/>
    <a:srgbClr val="00FF99"/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E4527-6086-4226-CC7C-98496AD5F3F6}" v="8" dt="2026-07-21T15:24:56.738"/>
    <p1510:client id="{7C8135A0-CDA8-4096-ACFF-4CF245CF60B9}" v="75" dt="2026-07-22T13:24:59.659"/>
    <p1510:client id="{CE09A14E-E1CD-BEB9-E7FE-63B1E3B99F3C}" v="1" dt="2026-07-22T13:58:24.311"/>
    <p1510:client id="{D50E7535-712B-BC2E-D404-6C68C20F7725}" v="254" dt="2026-07-21T15:52:24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5/10/relationships/revisionInfo" Target="revisionInfo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32" Type="http://schemas.openxmlformats.org/officeDocument/2006/relationships/theme" Target="theme/theme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30" Type="http://schemas.openxmlformats.org/officeDocument/2006/relationships/presProps" Target="presProps.xml"/><Relationship Id="rId35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B680F3-DD1E-2F10-DC7E-0F75713A0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F4D9F-E224-EC65-6891-0836CE2DB5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74B5-A0C2-784A-8B79-F49806F2F400}" type="datetimeFigureOut">
              <a:rPr lang="en-US" smtClean="0">
                <a:latin typeface="Replica LL TT" panose="020B0504010101010104" pitchFamily="34" charset="77"/>
              </a:rPr>
              <a:t>7/27/2026</a:t>
            </a:fld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5027-960B-0D77-E2EA-8CA65A6DC5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681D8-F754-61ED-C9B7-7CCEB164E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56655-A3FC-734D-870A-74EA14882906}" type="slidenum">
              <a:rPr lang="en-US" smtClean="0">
                <a:latin typeface="Replica LL TT" panose="020B0504010101010104" pitchFamily="34" charset="77"/>
              </a:rPr>
              <a:t>‹#›</a:t>
            </a:fld>
            <a:endParaRPr lang="en-US">
              <a:latin typeface="Replica LL TT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983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8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E51680A-FFEB-87D3-5EF8-50A2898A208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58775" y="2819400"/>
            <a:ext cx="11490325" cy="3429000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1000"/>
              </a:spcAft>
              <a:buNone/>
              <a:tabLst/>
              <a:defRPr b="0" i="0">
                <a:latin typeface="+mn-lt"/>
              </a:defRPr>
            </a:lvl1pPr>
            <a:lvl2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2pPr>
            <a:lvl3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3pPr>
            <a:lvl4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4pPr>
            <a:lvl5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5pPr>
            <a:lvl6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6pPr>
            <a:lvl7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7pPr>
            <a:lvl8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8pPr>
            <a:lvl9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D571CDE-B9F4-7B75-49A8-D1C30DB9346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4CAFCC1-38CA-3166-0FCA-B21C3B410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" pitchFamily="49" charset="0"/>
                <a:ea typeface="Roboto Mono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34" y="1081986"/>
            <a:ext cx="4111150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44327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1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7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CC28ACB6-8CB3-E190-AAA3-6747DFFE1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" pitchFamily="49" charset="0"/>
                <a:ea typeface="Roboto Mono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0F829B-1468-26F9-C19B-9857419738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5FEAE-7A79-66BA-FD94-F1B2ECDB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448909"/>
            <a:ext cx="11468102" cy="372805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31599-6B9F-8BB9-66CC-7517887D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20338"/>
            <a:ext cx="5220104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85B0EE91-61D1-8D52-0B58-F63F4033609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A85A963D-3698-3156-78F6-92AE46B28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81D3F8-2806-623C-E4A5-125725F3FCAF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6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1" b="0" i="0" kern="1200">
          <a:solidFill>
            <a:schemeClr val="tx1"/>
          </a:solidFill>
          <a:latin typeface="+mn-lt"/>
          <a:ea typeface="+mj-ea"/>
          <a:cs typeface="Replica LL TT" panose="020B0504010101010104" pitchFamily="34" charset="77"/>
        </a:defRPr>
      </a:lvl1pPr>
    </p:titleStyle>
    <p:bodyStyle>
      <a:lvl1pPr marL="145098" indent="-145098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Replica LL TT" panose="020B0504010101010104" pitchFamily="34" charset="77"/>
        </a:defRPr>
      </a:lvl1pPr>
      <a:lvl2pPr marL="292608" indent="-146304" algn="l" defTabSz="146304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146304" algn="l" defTabSz="146304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85216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877824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1024128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1170432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7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9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4" userDrawn="1">
          <p15:clr>
            <a:srgbClr val="F26B43"/>
          </p15:clr>
        </p15:guide>
        <p15:guide id="2" pos="3778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1011" userDrawn="1">
          <p15:clr>
            <a:srgbClr val="F26B43"/>
          </p15:clr>
        </p15:guide>
        <p15:guide id="5" pos="1135" userDrawn="1">
          <p15:clr>
            <a:srgbClr val="F26B43"/>
          </p15:clr>
        </p15:guide>
        <p15:guide id="6" pos="2060" userDrawn="1">
          <p15:clr>
            <a:srgbClr val="F26B43"/>
          </p15:clr>
        </p15:guide>
        <p15:guide id="7" pos="1936" userDrawn="1">
          <p15:clr>
            <a:srgbClr val="F26B43"/>
          </p15:clr>
        </p15:guide>
        <p15:guide id="8" pos="2858" userDrawn="1">
          <p15:clr>
            <a:srgbClr val="F26B43"/>
          </p15:clr>
        </p15:guide>
        <p15:guide id="9" pos="2982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pos="4700" userDrawn="1">
          <p15:clr>
            <a:srgbClr val="F26B43"/>
          </p15:clr>
        </p15:guide>
        <p15:guide id="12" pos="4826" userDrawn="1">
          <p15:clr>
            <a:srgbClr val="F26B43"/>
          </p15:clr>
        </p15:guide>
        <p15:guide id="13" pos="5620" userDrawn="1">
          <p15:clr>
            <a:srgbClr val="F26B43"/>
          </p15:clr>
        </p15:guide>
        <p15:guide id="14" pos="5748" userDrawn="1">
          <p15:clr>
            <a:srgbClr val="F26B43"/>
          </p15:clr>
        </p15:guide>
        <p15:guide id="15" pos="6544" userDrawn="1">
          <p15:clr>
            <a:srgbClr val="F26B43"/>
          </p15:clr>
        </p15:guide>
        <p15:guide id="16" pos="6670" userDrawn="1">
          <p15:clr>
            <a:srgbClr val="F26B43"/>
          </p15:clr>
        </p15:guide>
        <p15:guide id="17" pos="7464" userDrawn="1">
          <p15:clr>
            <a:srgbClr val="F26B43"/>
          </p15:clr>
        </p15:guide>
        <p15:guide id="18" orient="horz" pos="4104" userDrawn="1">
          <p15:clr>
            <a:srgbClr val="F26B43"/>
          </p15:clr>
        </p15:guide>
        <p15:guide id="19" orient="horz" pos="552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73AFC-BD15-08B8-C005-991E073A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0D5C4-1A6E-60BD-C8E8-72A2AA45C24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/>
              <a:t>Presentation or Section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5AF41C-A70E-73C3-380B-14DB3135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32" y="1081987"/>
            <a:ext cx="11016404" cy="396858"/>
          </a:xfrm>
        </p:spPr>
        <p:txBody>
          <a:bodyPr/>
          <a:lstStyle/>
          <a:p>
            <a:r>
              <a:rPr lang="en-US" sz="2800" cap="none">
                <a:latin typeface="+mj-lt"/>
              </a:rPr>
              <a:t>Slide title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8734" y="1850000"/>
          <a:ext cx="11493500" cy="37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00000"/>
                <a:gridCol w="8193500"/>
              </a:tblGrid>
              <a:tr h="940000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808080"/>
                          </a:solidFill>
                          <a:latin typeface="Roboto Mono" pitchFamily="49" charset="0"/>
                          <a:cs typeface="Calibri"/>
                        </a:rPr>
                        <a:t>Label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36949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000000"/>
                          </a:solidFill>
                          <a:latin typeface="ReplicaLLTT-Regular" panose="020B0504010101010104" pitchFamily="34" charset="77"/>
                        </a:rPr>
                        <a:t>Value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36949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40000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808080"/>
                          </a:solidFill>
                          <a:latin typeface="Roboto Mono" pitchFamily="49" charset="0"/>
                          <a:cs typeface="Calibri"/>
                        </a:rPr>
                        <a:t>Label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DCDCDC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000000"/>
                          </a:solidFill>
                          <a:latin typeface="ReplicaLLTT-Regular" panose="020B0504010101010104" pitchFamily="34" charset="77"/>
                        </a:rPr>
                        <a:t>Value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DCDCDC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40000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808080"/>
                          </a:solidFill>
                          <a:latin typeface="Roboto Mono" pitchFamily="49" charset="0"/>
                          <a:cs typeface="Calibri"/>
                        </a:rPr>
                        <a:t>Label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DCDCDC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000000"/>
                          </a:solidFill>
                          <a:latin typeface="ReplicaLLTT-Regular" panose="020B0504010101010104" pitchFamily="34" charset="77"/>
                        </a:rPr>
                        <a:t>Value with footnote marker</a:t>
                      </a:r>
                      <a:r>
                        <a:rPr lang="en-US" sz="1600" b="0">
                          <a:solidFill>
                            <a:srgbClr val="F36949"/>
                          </a:solidFill>
                          <a:latin typeface="ReplicaLLTT-Regular" panose="020B0504010101010104" pitchFamily="34" charset="77"/>
                        </a:rPr>
                        <a:t xml:space="preserve"> *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DCDCDC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40000">
                <a:tc>
                  <a:txBody>
                    <a:bodyPr/>
                    <a:lstStyle/>
                    <a:p>
                      <a:pPr algn="l"/>
                      <a:r>
                        <a:rPr lang="en-US" sz="1150" b="0">
                          <a:solidFill>
                            <a:srgbClr val="808080"/>
                          </a:solidFill>
                          <a:latin typeface="Roboto Mono" pitchFamily="49" charset="0"/>
                          <a:cs typeface="Calibri"/>
                        </a:rPr>
                        <a:t>Label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DCDCDC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000000"/>
                          </a:solidFill>
                          <a:latin typeface="ReplicaLLTT-Regular" panose="020B0504010101010104" pitchFamily="34" charset="77"/>
                        </a:rPr>
                        <a:t>Value</a:t>
                      </a:r>
                    </a:p>
                  </a:txBody>
                  <a:tcPr marL="72009" marR="72009" marT="72000" marB="72000" anchor="ctr">
                    <a:lnL w="0" cmpd="sng">
                      <a:solidFill>
                        <a:srgbClr val="FFFFFF"/>
                      </a:solidFill>
                    </a:lnL>
                    <a:lnR w="0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DCDCDC"/>
                      </a:solidFill>
                      <a:prstDash val="soli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0" name="Footnote"/>
          <p:cNvSpPr txBox="1"/>
          <p:nvPr/>
        </p:nvSpPr>
        <p:spPr>
          <a:xfrm>
            <a:off x="358734" y="5760000"/>
            <a:ext cx="1149350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000">
                <a:solidFill>
                  <a:srgbClr val="F36949"/>
                </a:solidFill>
                <a:latin typeface="ReplicaLLTT-Regular" panose="020B0504010101010104" pitchFamily="34" charset="77"/>
              </a:rPr>
              <a:t xml:space="preserve">* </a:t>
            </a:r>
            <a:r>
              <a:rPr lang="en-US" sz="1000">
                <a:solidFill>
                  <a:srgbClr val="595959"/>
                </a:solidFill>
                <a:latin typeface="ReplicaLLTT-Regular" panose="020B0504010101010104" pitchFamily="34" charset="77"/>
              </a:rPr>
              <a:t>Footnote: one short complete sentence tied to the asterisk.</a:t>
            </a:r>
          </a:p>
        </p:txBody>
      </p:sp>
    </p:spTree>
    <p:extLst>
      <p:ext uri="{BB962C8B-B14F-4D97-AF65-F5344CB8AC3E}">
        <p14:creationId xmlns:p14="http://schemas.microsoft.com/office/powerpoint/2010/main" val="2849907485"/>
      </p:ext>
    </p:extLst>
  </p:cSld>
  <p:clrMapOvr>
    <a:masterClrMapping/>
  </p:clrMapOvr>
</p:sld>
</file>

<file path=ppt/theme/theme1.xml><?xml version="1.0" encoding="utf-8"?>
<a:theme xmlns:a="http://schemas.openxmlformats.org/drawingml/2006/main" name="2026 Corporate Template">
  <a:themeElements>
    <a:clrScheme name="SoftServe">
      <a:dk1>
        <a:srgbClr val="000000"/>
      </a:dk1>
      <a:lt1>
        <a:srgbClr val="FFFFFF"/>
      </a:lt1>
      <a:dk2>
        <a:srgbClr val="26282B"/>
      </a:dk2>
      <a:lt2>
        <a:srgbClr val="EDF0F2"/>
      </a:lt2>
      <a:accent1>
        <a:srgbClr val="1485C3"/>
      </a:accent1>
      <a:accent2>
        <a:srgbClr val="459FDD"/>
      </a:accent2>
      <a:accent3>
        <a:srgbClr val="C1DFF3"/>
      </a:accent3>
      <a:accent4>
        <a:srgbClr val="F36949"/>
      </a:accent4>
      <a:accent5>
        <a:srgbClr val="FE8D6B"/>
      </a:accent5>
      <a:accent6>
        <a:srgbClr val="FFCEC0"/>
      </a:accent6>
      <a:hlink>
        <a:srgbClr val="0563C1"/>
      </a:hlink>
      <a:folHlink>
        <a:srgbClr val="4C5156"/>
      </a:folHlink>
    </a:clrScheme>
    <a:fontScheme name="Mix2">
      <a:majorFont>
        <a:latin typeface="Azurio"/>
        <a:ea typeface=""/>
        <a:cs typeface=""/>
      </a:majorFont>
      <a:minorFont>
        <a:latin typeface="Replica LL TT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 Template_30.04" id="{78154BEB-4A8C-EB46-9F23-388FEC231FF7}" vid="{FFFE069B-A98E-1946-A600-E97DFA03DE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13D2FA8-45BC-914D-B66F-02B3A077ACCB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f69d9a96-e3ef-4104-8c4b-2ddeca3b27b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D8B1DC3-C6EC-B840-AEB7-A60E8AC76933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9f2eafe5-bf42-4964-9d6e-64abb0700d1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A2235D5E88145BF1C4547E2B18A06" ma:contentTypeVersion="4" ma:contentTypeDescription="Create a new document." ma:contentTypeScope="" ma:versionID="07eb133998e241ca422b03216c87fb5a">
  <xsd:schema xmlns:xsd="http://www.w3.org/2001/XMLSchema" xmlns:xs="http://www.w3.org/2001/XMLSchema" xmlns:p="http://schemas.microsoft.com/office/2006/metadata/properties" xmlns:ns2="8aa81e57-3ca5-41ca-b900-588daa88edda" targetNamespace="http://schemas.microsoft.com/office/2006/metadata/properties" ma:root="true" ma:fieldsID="75ca66f714348251d9eab6ffafbf4d89" ns2:_="">
    <xsd:import namespace="8aa81e57-3ca5-41ca-b900-588daa88e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81e57-3ca5-41ca-b900-588daa88e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8D0A93-F0EA-45EB-9DB5-5B844358CA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738464-044C-470B-8810-28CF6336FCA2}">
  <ds:schemaRefs>
    <ds:schemaRef ds:uri="8aa81e57-3ca5-41ca-b900-588daa88ed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9383CD7-F1A8-471C-A0CD-38F0172F3A2B}">
  <ds:schemaRefs>
    <ds:schemaRef ds:uri="8aa81e57-3ca5-41ca-b900-588daa88ed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6c51c659-9d52-41af-81f7-dde16380e813}" enabled="0" method="" siteId="{6c51c659-9d52-41af-81f7-dde16380e81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SoftServe Template</Template>
  <Application>Microsoft Office PowerPoint</Application>
  <PresentationFormat>Widescreen</PresentationFormat>
  <Slides>23</Slides>
  <Notes>5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2026 Corporate Template</vt:lpstr>
      <vt:lpstr>PowerPoint Presentation</vt:lpstr>
      <vt:lpstr>Contents</vt:lpstr>
      <vt:lpstr>Executive updates on cooperation progress</vt:lpstr>
      <vt:lpstr>Joint opportunities &amp; pipeline review</vt:lpstr>
      <vt:lpstr>Engagement Status (NVIDIA funding track)</vt:lpstr>
      <vt:lpstr>Engagement Status (Oracle-SoftServe direct customer pursuit)</vt:lpstr>
      <vt:lpstr>Follow-up topics from previous Executive Alignment May 2026</vt:lpstr>
      <vt:lpstr>AI-accelerated Apps initiative</vt:lpstr>
      <vt:lpstr>Workforce optimization – accelerator app</vt:lpstr>
      <vt:lpstr>Oracle aidp relaunch and gtm alignment</vt:lpstr>
      <vt:lpstr>Partnership structure</vt:lpstr>
      <vt:lpstr>AI FACTORY as SERVICE </vt:lpstr>
      <vt:lpstr>Softserve dedicated oracle practice</vt:lpstr>
      <vt:lpstr>PowerPoint Presentation</vt:lpstr>
      <vt:lpstr>HOW SOFTSERVE DEDICATED PRACTICE CAN CONTRIBUTE TO ORACLE’S AI AND DATA GTM STRATEGY</vt:lpstr>
      <vt:lpstr>01  · PACKAGED BUSINESS APPS</vt:lpstr>
      <vt:lpstr>01  · PACKAGED BUSINESS APPS: AI USE CASES</vt:lpstr>
      <vt:lpstr>HOW SOFTSERVE DEDICATED PRACTICE CAN CONTRIBUTE TO ORACLE’S AI AND DATA GTM STRATEGY</vt:lpstr>
      <vt:lpstr>01  · PACKAGED BUSINESS APPS: AI USE CASES</vt:lpstr>
      <vt:lpstr>02  ·  JOINT MARKETING &amp; LEAD GEN</vt:lpstr>
      <vt:lpstr>03  ·  SERVICE DELIVERY: VALUE REALIZATION &amp; ADOPTION</vt:lpstr>
      <vt:lpstr>Next Steps &amp; Closure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Nataliia Kolobkova</dc:creator>
  <cp:keywords/>
  <dc:description/>
  <cp:revision>2</cp:revision>
  <dcterms:created xsi:type="dcterms:W3CDTF">2026-05-05T14:12:12Z</dcterms:created>
  <dcterms:modified xsi:type="dcterms:W3CDTF">2026-07-27T11:41:55Z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0x01010081EA2235D5E88145BF1C4547E2B18A06</vt:lpwstr>
  </property>
  <property fmtid="{D5CDD505-2E9C-101B-9397-08002B2CF9AE}" pid="3" name="MediaServiceImageTags">
    <vt:lpwstr/>
  </property>
</Properties>
</file>